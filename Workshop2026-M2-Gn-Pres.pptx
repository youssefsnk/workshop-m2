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57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FC2F5"/>
                </a:solidFill>
                <a:latin typeface="Calibri"/>
              </a:rPr>
              <a:t>WORKSHOP NATIONAL — BAC+5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PROJECT RESILIENCE-ALPHA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B5D4F4"/>
                </a:solidFill>
                <a:latin typeface="Calibri"/>
              </a:rPr>
              <a:t>Cyber-résilience et reprise autonome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FC2F5"/>
                </a:solidFill>
                <a:latin typeface="Calibri"/>
              </a:rPr>
              <a:t>Équipe G&lt;n&gt;   ·   Session Octobre 2026   ·   [Noms à compléter]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06D"/>
                </a:solidFill>
                <a:latin typeface="Calibri"/>
              </a:rPr>
              <a:t>Quand un paiement ne passe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6314F"/>
                </a:solidFill>
                <a:latin typeface="Calibri"/>
              </a:rPr>
              <a:t>•  Une plateforme de paiement subit des incidents qui interrompent ou dégradent ses services.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6314F"/>
                </a:solidFill>
                <a:latin typeface="Calibri"/>
              </a:rPr>
              <a:t>•  Les équipes rétablissent le service, mais à la main : lent, long, difficilement reproductible.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6314F"/>
                </a:solidFill>
                <a:latin typeface="Calibri"/>
              </a:rPr>
              <a:t>•  Pour une activité financière, chaque minute d'indisponibilité coûte : opérations retardées, confiance érodée.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52606D"/>
                </a:solidFill>
                <a:latin typeface="Calibri"/>
              </a:rPr>
              <a:t>•  Exigences propres au secteur : sécurité, traçabilité, résilience.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Notre objectif : la reprise autonome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06D"/>
                </a:solidFill>
                <a:latin typeface="Calibri"/>
              </a:rPr>
              <a:t>Zero-touch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6314F"/>
                </a:solidFill>
                <a:latin typeface="Calibri"/>
              </a:rPr>
              <a:t>Démontrer qu'un SI de paiement peut se réparer seul, sans intervention humaine :</a:t>
            </a:r>
          </a:p>
        </p:txBody>
      </p:sp>
      <p:sp>
        <p:nvSpPr>
          <p:cNvPr id="7" name="Rectangle 6"/>
          <p:cNvSpPr/>
          <p:nvPr/>
        </p:nvSpPr>
        <p:spPr>
          <a:xfrm>
            <a:off x="1409547" y="2651760"/>
            <a:ext cx="2103120" cy="8229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DÉTECTER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2667" y="2651760"/>
            <a:ext cx="320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D6CDF"/>
                </a:solidFill>
                <a:latin typeface="Calibri"/>
              </a:rPr>
              <a:t>➜</a:t>
            </a:r>
          </a:p>
        </p:txBody>
      </p:sp>
      <p:sp>
        <p:nvSpPr>
          <p:cNvPr id="9" name="Rectangle 8"/>
          <p:cNvSpPr/>
          <p:nvPr/>
        </p:nvSpPr>
        <p:spPr>
          <a:xfrm>
            <a:off x="3832707" y="2651760"/>
            <a:ext cx="2103120" cy="8229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DÉCIDER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5827" y="2651760"/>
            <a:ext cx="320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D6CDF"/>
                </a:solidFill>
                <a:latin typeface="Calibri"/>
              </a:rPr>
              <a:t>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5867" y="2651760"/>
            <a:ext cx="2103120" cy="82296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AGIR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8987" y="2651760"/>
            <a:ext cx="320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D6CDF"/>
                </a:solidFill>
                <a:latin typeface="Calibri"/>
              </a:rPr>
              <a:t>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9027" y="2651760"/>
            <a:ext cx="2103120" cy="82296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VÉRIFIER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2606D"/>
                </a:solidFill>
                <a:latin typeface="Calibri"/>
              </a:rPr>
              <a:t>Les événements sont collectés, l'anomalie est identifiée, une remédiation est décidée et exécutée, puis le service est vérifié par une nouvelle transaction. Aucune main humaine entre l'anomalie et le retour à la normale.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06D"/>
                </a:solidFill>
                <a:latin typeface="Calibri"/>
              </a:rPr>
              <a:t>Microservices conteneurisés + boucle de supervision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6CDF"/>
                </a:solidFill>
                <a:latin typeface="Calibri"/>
              </a:rPr>
              <a:t>Flux métier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60907" y="1828800"/>
            <a:ext cx="2377440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PC Attaquant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8347" y="1828800"/>
            <a:ext cx="320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D6CDF"/>
                </a:solidFill>
                <a:latin typeface="Calibri"/>
              </a:rPr>
              <a:t>➜</a:t>
            </a:r>
          </a:p>
        </p:txBody>
      </p:sp>
      <p:sp>
        <p:nvSpPr>
          <p:cNvPr id="9" name="Rectangle 8"/>
          <p:cNvSpPr/>
          <p:nvPr/>
        </p:nvSpPr>
        <p:spPr>
          <a:xfrm>
            <a:off x="3558387" y="1828800"/>
            <a:ext cx="2377440" cy="77724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Gateway / WAF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5827" y="1828800"/>
            <a:ext cx="320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D6CDF"/>
                </a:solidFill>
                <a:latin typeface="Calibri"/>
              </a:rPr>
              <a:t>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5867" y="1828800"/>
            <a:ext cx="2377440" cy="77724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Payment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3307" y="1828800"/>
            <a:ext cx="320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D6CDF"/>
                </a:solidFill>
                <a:latin typeface="Calibri"/>
              </a:rPr>
              <a:t>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53347" y="1828800"/>
            <a:ext cx="2377440" cy="77724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Auth → 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98324"/>
                </a:solidFill>
                <a:latin typeface="Calibri"/>
              </a:rPr>
              <a:t>Boucle de reprise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0907" y="3566160"/>
            <a:ext cx="2377440" cy="77724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Observabilité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8347" y="3566160"/>
            <a:ext cx="320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D6CDF"/>
                </a:solidFill>
                <a:latin typeface="Calibri"/>
              </a:rPr>
              <a:t>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58387" y="3566160"/>
            <a:ext cx="2377440" cy="77724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Détecteur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5827" y="3566160"/>
            <a:ext cx="320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D6CDF"/>
                </a:solidFill>
                <a:latin typeface="Calibri"/>
              </a:rPr>
              <a:t>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5867" y="3566160"/>
            <a:ext cx="2377440" cy="77724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Remédiation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3307" y="3566160"/>
            <a:ext cx="320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D6CDF"/>
                </a:solidFill>
                <a:latin typeface="Calibri"/>
              </a:rPr>
              <a:t>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53347" y="3566160"/>
            <a:ext cx="2377440" cy="77724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Service rétabli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2606D"/>
                </a:solidFill>
                <a:latin typeface="Calibri"/>
              </a:rPr>
              <a:t>Point d'entrée unique par le WAF. Base, secrets, Prometheus et remédiation sur réseau interne isolé, jamais exposés.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Les 5 piliers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64592" cy="8229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6314F"/>
                </a:solidFill>
                <a:latin typeface="Calibri"/>
              </a:rPr>
              <a:t>Développement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463040"/>
            <a:ext cx="7589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2606D"/>
                </a:solidFill>
                <a:latin typeface="Calibri"/>
              </a:rPr>
              <a:t>FastAPI (API, Auth), React + Tailwind (dashboard)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95728"/>
            <a:ext cx="164592" cy="8229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6314F"/>
                </a:solidFill>
                <a:latin typeface="Calibri"/>
              </a:rPr>
              <a:t>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395728"/>
            <a:ext cx="7589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2606D"/>
                </a:solidFill>
                <a:latin typeface="Calibri"/>
              </a:rPr>
              <a:t>Docker Compose, Ansible, Prometheus / Grafana / Loki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28416"/>
            <a:ext cx="164592" cy="82296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28416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6314F"/>
                </a:solidFill>
                <a:latin typeface="Calibri"/>
              </a:rPr>
              <a:t>IA /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328416"/>
            <a:ext cx="7589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2606D"/>
                </a:solidFill>
                <a:latin typeface="Calibri"/>
              </a:rPr>
              <a:t>Détection Isolation Forest + assistant RAG (Ollama ≤8B)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61104"/>
            <a:ext cx="164592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61104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6314F"/>
                </a:solidFill>
                <a:latin typeface="Calibri"/>
              </a:rPr>
              <a:t>Cybersécurité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261104"/>
            <a:ext cx="7589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2606D"/>
                </a:solidFill>
                <a:latin typeface="Calibri"/>
              </a:rPr>
              <a:t>WAF ModSecurity, Red Team, SOPS, moindre privilège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193792"/>
            <a:ext cx="164592" cy="82296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93792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6314F"/>
                </a:solidFill>
                <a:latin typeface="Calibri"/>
              </a:rPr>
              <a:t>Gouvernance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193792"/>
            <a:ext cx="7589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2606D"/>
                </a:solidFill>
                <a:latin typeface="Calibri"/>
              </a:rPr>
              <a:t>EBIOS RM, PCA/PRA, NIS2 / DORA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Un scénario, deux menaces, deux réponses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03520" cy="42062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03520" cy="6400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53035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Flood  →  Disponibilité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6314F"/>
                </a:solidFill>
                <a:latin typeface="Calibri"/>
              </a:rPr>
              <a:t>•  Épuisement de ressources sur l'API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6314F"/>
                </a:solidFill>
                <a:latin typeface="Calibri"/>
              </a:rPr>
              <a:t>•  La latence explose, des erreurs apparaissent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6314F"/>
                </a:solidFill>
                <a:latin typeface="Calibri"/>
              </a:rPr>
              <a:t>•  Réponse : remédiation automatique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D9E75"/>
                </a:solidFill>
                <a:latin typeface="Calibri"/>
              </a:rPr>
              <a:t>•  → le service est restauré et vérifié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5303520" cy="42062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530352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72768"/>
            <a:ext cx="53035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Injection SQL  →  Compromission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774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6314F"/>
                </a:solidFill>
                <a:latin typeface="Calibri"/>
              </a:rPr>
              <a:t>•  Tentative d'intrusion (1' OR '1'='1)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6314F"/>
                </a:solidFill>
                <a:latin typeface="Calibri"/>
              </a:rPr>
              <a:t>•  Réponse : pas de redémarrage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6314F"/>
                </a:solidFill>
                <a:latin typeface="Calibri"/>
              </a:rPr>
              <a:t>•  Le WAF bloque (403) avant l'auth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C0392B"/>
                </a:solidFill>
                <a:latin typeface="Calibri"/>
              </a:rPr>
              <a:t>•  → bloqué et tracé pour investigation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La détection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06D"/>
                </a:solidFill>
                <a:latin typeface="Calibri"/>
              </a:rPr>
              <a:t>Machine learning, sans seuil codé en dur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6314F"/>
                </a:solidFill>
                <a:latin typeface="Calibri"/>
              </a:rPr>
              <a:t>•  Modèle Isolation Forest : non supervisé, apprend la forme du trafic « normal ».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6314F"/>
                </a:solidFill>
                <a:latin typeface="Calibri"/>
              </a:rPr>
              <a:t>•  Au démarrage : observe ~60 s, collecte débit, taux d'erreur, latence p95 (via Prometheus).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6314F"/>
                </a:solidFill>
                <a:latin typeface="Calibri"/>
              </a:rPr>
              <a:t>•  Ensuite : score chaque mesure, isole les points atypiques.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52606D"/>
                </a:solidFill>
                <a:latin typeface="Calibri"/>
              </a:rPr>
              <a:t>•  3 anomalies consécutives exigées avant de déclencher → anti faux positif.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52606D"/>
                </a:solidFill>
                <a:latin typeface="Calibri"/>
              </a:rPr>
              <a:t>•  Détecte et alerte ; ne corrige pas lui-même (séparation détection / action).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La remédiation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06D"/>
                </a:solidFill>
                <a:latin typeface="Calibri"/>
              </a:rPr>
              <a:t>Agir, puis vérifier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16314F"/>
                </a:solidFill>
                <a:latin typeface="Calibri"/>
              </a:rPr>
              <a:t>•  Reçoit l'incident, redémarre le service touché via un proxy Docker en moindre privilège.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6314F"/>
                </a:solidFill>
                <a:latin typeface="Calibri"/>
              </a:rPr>
              <a:t>•  VÉRIFIE : une transaction de contrôle doit repasser. Le /health fait un vrai SELECT en base.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6314F"/>
                </a:solidFill>
                <a:latin typeface="Calibri"/>
              </a:rPr>
              <a:t>•  Un conteneur « up » ne suffit pas : s'il ne répond pas, l'incident reste ouvert (escalade).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C0392B"/>
                </a:solidFill>
                <a:latin typeface="Calibri"/>
              </a:rPr>
              <a:t>•  Choix défendable : pas de restart Docker automatique — sinon il masquerait l'incident.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Résultats des essais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06D"/>
                </a:solidFill>
                <a:latin typeface="Calibri"/>
              </a:rPr>
              <a:t>Boucle complète exécutée sur le démonstrateur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2468880" cy="173736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2D6CDF"/>
                </a:solidFill>
                <a:latin typeface="Calibri"/>
              </a:rPr>
              <a:t>0,016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2606D"/>
                </a:solidFill>
                <a:latin typeface="Calibri"/>
              </a:rPr>
              <a:t>AVANT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554480"/>
            <a:ext cx="2468880" cy="173736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7830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2D6CDF"/>
                </a:solidFill>
                <a:latin typeface="Calibri"/>
              </a:rPr>
              <a:t>1,27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65176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2606D"/>
                </a:solidFill>
                <a:latin typeface="Calibri"/>
              </a:rPr>
              <a:t>PENDANT (×80)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2468880" cy="173736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830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2D6CDF"/>
                </a:solidFill>
                <a:latin typeface="Calibri"/>
              </a:rPr>
              <a:t>9,8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5176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2606D"/>
                </a:solidFill>
                <a:latin typeface="Calibri"/>
              </a:rPr>
              <a:t>RTO mesuré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554480"/>
            <a:ext cx="2468880" cy="173736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17830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2D6CDF"/>
                </a:solidFill>
                <a:latin typeface="Calibri"/>
              </a:rPr>
              <a:t>0,019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65176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2606D"/>
                </a:solidFill>
                <a:latin typeface="Calibri"/>
              </a:rPr>
              <a:t>APRÈS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6314F"/>
                </a:solidFill>
                <a:latin typeface="Calibri"/>
              </a:rPr>
              <a:t>•  Flood : 9 879 requêtes, 6 688 erreurs/timeouts — saturation réelle.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6314F"/>
                </a:solidFill>
                <a:latin typeface="Calibri"/>
              </a:rPr>
              <a:t>•  Incident détecté et résolu automatiquement (statut resolved). RTO toujours &lt; 60 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6314F"/>
                </a:solidFill>
                <a:latin typeface="Calibri"/>
              </a:rPr>
              <a:t>•  Injection SQL bloquée par le WAF : HTTP 403.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6314F"/>
                </a:solidFill>
                <a:latin typeface="Calibri"/>
              </a:rPr>
              <a:t>•  Assistant RAG opérationnel, 100 % local, réponses sourcées sur les docs du projet.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Sécurité et moindre privilège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6314F"/>
                </a:solidFill>
                <a:latin typeface="Calibri"/>
              </a:rPr>
              <a:t>•  Le moteur de remédiation n'accède jamais au socket Docker en direct : proxy limité à lister + redémarrer.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6314F"/>
                </a:solidFill>
                <a:latin typeface="Calibri"/>
              </a:rPr>
              <a:t>•  Cloisonnement réseau : base, secrets, Prometheus, remédiation jamais exposés.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6314F"/>
                </a:solidFill>
                <a:latin typeface="Calibri"/>
              </a:rPr>
              <a:t>•  WAF ModSecurity (OWASP CRS) en amont de l'API.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6314F"/>
                </a:solidFill>
                <a:latin typeface="Calibri"/>
              </a:rPr>
              <a:t>•  Secrets chiffrés (SOPS), aucun secret en clair dans l'archive. Mots de passe bcrypt.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52606D"/>
                </a:solidFill>
                <a:latin typeface="Calibri"/>
              </a:rPr>
              <a:t>•  Journaux centralisés (Loki) + événements WAF exploitables pour investigation.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Gouvernance et conformité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6314F"/>
                </a:solidFill>
                <a:latin typeface="Calibri"/>
              </a:rPr>
              <a:t>•  Analyse de risques EBIOS RM : chaque mesure rattachée à un composant réel.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6314F"/>
                </a:solidFill>
                <a:latin typeface="Calibri"/>
              </a:rPr>
              <a:t>•  Objectifs de continuité : RTO &lt; 60 s (mesuré), RPO 0 sur les transactions validées.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6314F"/>
                </a:solidFill>
                <a:latin typeface="Calibri"/>
              </a:rPr>
              <a:t>•  NIS2 / DORA : détection d'incident, tests de résilience et traçabilité démontrés.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52606D"/>
                </a:solidFill>
                <a:latin typeface="Calibri"/>
              </a:rPr>
              <a:t>•  Hors prototype (assumé) : notification réglementaire 72 h, gestion du risque tiers.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52606D"/>
                </a:solidFill>
                <a:latin typeface="Calibri"/>
              </a:rPr>
              <a:t>•  Recommandation : industrialiser d'abord la journalisation et la notification d'incident.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Limites assumées et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52606D"/>
                </a:solidFill>
                <a:latin typeface="Calibri"/>
              </a:rPr>
              <a:t>•  Prototype de 4 jours, pas une plateforme industrielle. Baseline ML court.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2606D"/>
                </a:solidFill>
                <a:latin typeface="Calibri"/>
              </a:rPr>
              <a:t>•  Remédiation = répertoire d'actions vérifiées, extensible (isolation, rate-limit, scaling).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2606D"/>
                </a:solidFill>
                <a:latin typeface="Calibri"/>
              </a:rPr>
              <a:t>•  Reprise = disponibilité ; une compromission avérée relève de l'investigation. Pas de multi-site.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97680"/>
            <a:ext cx="10881360" cy="1371600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48056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Une chaîne de cyber-résilience crédible : l'attaque frappe, le système se répare seul en moins de 60 secondes, et la disponibilité est vérifiée, pas supposée.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